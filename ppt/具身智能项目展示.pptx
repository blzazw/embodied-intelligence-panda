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2000" cy="6858000"/>
          </a:xfrm>
          <a:solidFill>
            <a:srgbClr val="1A3356"/>
          </a:solidFill>
          <a:ln w="0"/>
        </p:spPr>
      </p:sp>
      <p:sp>
        <p:nvSpPr>
          <p:cNvPr id="3" name=""/>
          <p:cNvSpPr/>
          <p:nvPr/>
        </p:nvSpPr>
        <p:spPr>
          <a:xfrm>
            <a:off x="0" y="0"/>
            <a:ext cx="182880" cy="6858000"/>
          </a:xfrm>
          <a:solidFill>
            <a:srgbClr val="2B579A"/>
          </a:solidFill>
          <a:ln w="0"/>
        </p:spPr>
      </p:sp>
      <p:sp>
        <p:nvSpPr>
          <p:cNvPr id="4" name=""/>
          <p:cNvSpPr/>
          <p:nvPr/>
        </p:nvSpPr>
        <p:spPr>
          <a:xfrm>
            <a:off x="457200" y="1371600"/>
            <a:ext cx="11000000" cy="548640"/>
          </a:xfrm>
        </p:spPr>
        <p:txBody>
          <a:bodyPr/>
          <a:lstStyle/>
          <a:p>
            <a:r>
              <a:rPr sz="1800" color="96BEFF" latin="Arial"/>
              <a:t>人工智能通识课 · 实践项目</a:t>
            </a:r>
          </a:p>
        </p:txBody>
      </p:sp>
      <p:sp>
        <p:nvSpPr>
          <p:cNvPr id="5" name=""/>
          <p:cNvSpPr/>
          <p:nvPr/>
        </p:nvSpPr>
        <p:spPr>
          <a:xfrm>
            <a:off x="457200" y="1913520"/>
            <a:ext cx="11000000" cy="411480"/>
          </a:xfrm>
        </p:spPr>
        <p:txBody>
          <a:bodyPr/>
          <a:lstStyle/>
          <a:p>
            <a:r>
              <a:rPr sz="1400" color="FFC000" latin="Arial"/>
              <a:t>第五类：具身智能</a:t>
            </a:r>
          </a:p>
        </p:txBody>
      </p:sp>
      <p:sp>
        <p:nvSpPr>
          <p:cNvPr id="6" name=""/>
          <p:cNvSpPr/>
          <p:nvPr/>
        </p:nvSpPr>
        <p:spPr>
          <a:xfrm>
            <a:off x="457200" y="2514600"/>
            <a:ext cx="11000000" cy="1600200"/>
          </a:xfrm>
        </p:spPr>
        <p:txBody>
          <a:bodyPr/>
          <a:lstStyle/>
          <a:p>
            <a:r>
              <a:rPr sz="5200" bold="1" color="FFFFFF" latin="Arial"/>
              <a:t>具身智能</a:t>
            </a:r>
          </a:p>
          <a:p>
            <a:r>
              <a:rPr sz="3600" color="FFFFFF" latin="Arial"/>
              <a:t>PyBullet 仿真机械臂控制</a:t>
            </a:r>
          </a:p>
        </p:txBody>
      </p:sp>
      <p:sp>
        <p:nvSpPr>
          <p:cNvPr id="7" name=""/>
          <p:cNvSpPr/>
          <p:nvPr/>
        </p:nvSpPr>
        <p:spPr>
          <a:xfrm>
            <a:off x="457200" y="4297680"/>
            <a:ext cx="11000000" cy="411480"/>
          </a:xfrm>
        </p:spPr>
        <p:txBody>
          <a:bodyPr/>
          <a:lstStyle/>
          <a:p>
            <a:r>
              <a:rPr sz="1600" color="96BEFF" latin="Arial"/>
              <a:t>Franka Panda 七自由度机械臂 · 逆运动学 · 抓取流水线 · 多参数对比实验</a:t>
            </a:r>
          </a:p>
        </p:txBody>
      </p:sp>
      <p:sp>
        <p:nvSpPr>
          <p:cNvPr id="8" name=""/>
          <p:cNvSpPr/>
          <p:nvPr/>
        </p:nvSpPr>
        <p:spPr>
          <a:xfrm>
            <a:off x="457200" y="5669280"/>
            <a:ext cx="10972800" cy="822960"/>
          </a:xfrm>
          <a:prstGeom prst="roundRect">
            <a:avLst>
              <a:gd name="adj" fmla="val 68580"/>
            </a:avLst>
          </a:prstGeom>
          <a:solidFill>
            <a:srgbClr val="1A3356"/>
          </a:solidFill>
          <a:ln w="0"/>
        </p:spPr>
      </p:sp>
      <p:sp>
        <p:nvSpPr>
          <p:cNvPr id="9" name=""/>
          <p:cNvSpPr/>
          <p:nvPr/>
        </p:nvSpPr>
        <p:spPr>
          <a:xfrm>
            <a:off x="594360" y="5852160"/>
            <a:ext cx="3600000" cy="457200"/>
          </a:xfrm>
        </p:spPr>
        <p:txBody>
          <a:bodyPr/>
          <a:lstStyle/>
          <a:p>
            <a:r>
              <a:rPr sz="1400" color="94B9FF" latin="Arial"/>
              <a:t>2026年5月</a:t>
            </a:r>
          </a:p>
        </p:txBody>
      </p:sp>
      <p:sp>
        <p:nvSpPr>
          <p:cNvPr id="10" name=""/>
          <p:cNvSpPr/>
          <p:nvPr/>
        </p:nvSpPr>
        <p:spPr>
          <a:xfrm>
            <a:off x="7315200" y="5852160"/>
            <a:ext cx="4000000" cy="457200"/>
          </a:xfrm>
        </p:spPr>
        <p:txBody>
          <a:bodyPr/>
          <a:lstStyle/>
          <a:p>
            <a:r>
              <a:rPr sz="1400" color="94B9FF" latin="Arial"/>
              <a:t>人工智能通识课 · 实践项目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2000" cy="6858000"/>
          </a:xfrm>
          <a:solidFill>
            <a:srgbClr val="F5F7FB"/>
          </a:solidFill>
          <a:ln w="0"/>
        </p:spPr>
      </p:sp>
      <p:sp>
        <p:nvSpPr>
          <p:cNvPr id="3" name=""/>
          <p:cNvSpPr/>
          <p:nvPr/>
        </p:nvSpPr>
        <p:spPr>
          <a:xfrm>
            <a:off x="0" y="0"/>
            <a:ext cx="12192000" cy="91440"/>
          </a:xfrm>
          <a:solidFill>
            <a:srgbClr val="2B579A"/>
          </a:solidFill>
          <a:ln w="0"/>
        </p:spPr>
      </p:sp>
      <p:sp>
        <p:nvSpPr>
          <p:cNvPr id="4" name=""/>
          <p:cNvSpPr/>
          <p:nvPr/>
        </p:nvSpPr>
        <p:spPr>
          <a:xfrm>
            <a:off x="457200" y="274320"/>
            <a:ext cx="11000000" cy="731520"/>
          </a:xfrm>
        </p:spPr>
        <p:txBody>
          <a:bodyPr/>
          <a:lstStyle/>
          <a:p>
            <a:r>
              <a:rPr sz="3000" bold="1" color="1A3356" latin="Arial"/>
              <a:t>一、项目概述</a:t>
            </a:r>
          </a:p>
        </p:txBody>
      </p:sp>
      <p:sp>
        <p:nvSpPr>
          <p:cNvPr id="10" name=""/>
          <p:cNvSpPr/>
          <p:nvPr/>
        </p:nvSpPr>
        <p:spPr>
          <a:xfrm>
            <a:off x="457200" y="1278720"/>
            <a:ext cx="3683000" cy="2800000"/>
          </a:xfrm>
          <a:prstGeom prst="roundRect">
            <a:avLst>
              <a:gd name="adj" fmla="val 68580"/>
            </a:avLst>
          </a:prstGeom>
          <a:solidFill>
            <a:srgbClr val="FFFFFF"/>
          </a:solidFill>
          <a:ln w="0"/>
        </p:spPr>
      </p:sp>
      <p:sp>
        <p:nvSpPr>
          <p:cNvPr id="11" name=""/>
          <p:cNvSpPr/>
          <p:nvPr/>
        </p:nvSpPr>
        <p:spPr>
          <a:xfrm>
            <a:off x="457200" y="1278720"/>
            <a:ext cx="3683000" cy="91440"/>
          </a:xfrm>
          <a:solidFill>
            <a:srgbClr val="2B579A"/>
          </a:solidFill>
          <a:ln w="0"/>
        </p:spPr>
      </p:sp>
      <p:sp>
        <p:nvSpPr>
          <p:cNvPr id="12" name=""/>
          <p:cNvSpPr/>
          <p:nvPr/>
        </p:nvSpPr>
        <p:spPr>
          <a:xfrm>
            <a:off x="640080" y="1461600"/>
            <a:ext cx="3317240" cy="411480"/>
          </a:xfrm>
        </p:spPr>
        <p:txBody>
          <a:bodyPr/>
          <a:lstStyle/>
          <a:p>
            <a:r>
              <a:rPr sz="2200" bold="1" color="2B579A" latin="Arial"/>
              <a:t>核心目标</a:t>
            </a:r>
          </a:p>
        </p:txBody>
      </p:sp>
      <p:sp>
        <p:nvSpPr>
          <p:cNvPr id="13" name=""/>
          <p:cNvSpPr/>
          <p:nvPr/>
        </p:nvSpPr>
        <p:spPr>
          <a:xfrm>
            <a:off x="640080" y="2010240"/>
            <a:ext cx="3317240" cy="365760"/>
          </a:xfrm>
        </p:spPr>
        <p:txBody>
          <a:bodyPr/>
          <a:lstStyle/>
          <a:p>
            <a:r>
              <a:rPr sz="1500" color="4A5568" latin="Arial"/>
              <a:t>在 PyBullet 仿真环境中</a:t>
            </a:r>
          </a:p>
        </p:txBody>
      </p:sp>
      <p:sp>
        <p:nvSpPr>
          <p:cNvPr id="13" name=""/>
          <p:cNvSpPr/>
          <p:nvPr/>
        </p:nvSpPr>
        <p:spPr>
          <a:xfrm>
            <a:off x="640080" y="2410240"/>
            <a:ext cx="3317240" cy="365760"/>
          </a:xfrm>
        </p:spPr>
        <p:txBody>
          <a:bodyPr/>
          <a:lstStyle/>
          <a:p>
            <a:r>
              <a:rPr sz="1500" color="4A5568" latin="Arial"/>
              <a:t>控制 Franka Panda 机械臂</a:t>
            </a:r>
          </a:p>
        </p:txBody>
      </p:sp>
      <p:sp>
        <p:nvSpPr>
          <p:cNvPr id="13" name=""/>
          <p:cNvSpPr/>
          <p:nvPr/>
        </p:nvSpPr>
        <p:spPr>
          <a:xfrm>
            <a:off x="640080" y="2810240"/>
            <a:ext cx="3317240" cy="365760"/>
          </a:xfrm>
        </p:spPr>
        <p:txBody>
          <a:bodyPr/>
          <a:lstStyle/>
          <a:p>
            <a:r>
              <a:rPr sz="1500" color="4A5568" latin="Arial"/>
              <a:t>完成末端定位与物体抓取</a:t>
            </a:r>
          </a:p>
        </p:txBody>
      </p:sp>
      <p:sp>
        <p:nvSpPr>
          <p:cNvPr id="20" name=""/>
          <p:cNvSpPr/>
          <p:nvPr/>
        </p:nvSpPr>
        <p:spPr>
          <a:xfrm>
            <a:off x="4254500" y="1278720"/>
            <a:ext cx="3683000" cy="2800000"/>
          </a:xfrm>
          <a:prstGeom prst="roundRect">
            <a:avLst>
              <a:gd name="adj" fmla="val 68580"/>
            </a:avLst>
          </a:prstGeom>
          <a:solidFill>
            <a:srgbClr val="FFFFFF"/>
          </a:solidFill>
          <a:ln w="0"/>
        </p:spPr>
      </p:sp>
      <p:sp>
        <p:nvSpPr>
          <p:cNvPr id="21" name=""/>
          <p:cNvSpPr/>
          <p:nvPr/>
        </p:nvSpPr>
        <p:spPr>
          <a:xfrm>
            <a:off x="4254500" y="1278720"/>
            <a:ext cx="3683000" cy="91440"/>
          </a:xfrm>
          <a:solidFill>
            <a:srgbClr val="38A169"/>
          </a:solidFill>
          <a:ln w="0"/>
        </p:spPr>
      </p:sp>
      <p:sp>
        <p:nvSpPr>
          <p:cNvPr id="22" name=""/>
          <p:cNvSpPr/>
          <p:nvPr/>
        </p:nvSpPr>
        <p:spPr>
          <a:xfrm>
            <a:off x="4437380" y="1461600"/>
            <a:ext cx="3317240" cy="411480"/>
          </a:xfrm>
        </p:spPr>
        <p:txBody>
          <a:bodyPr/>
          <a:lstStyle/>
          <a:p>
            <a:r>
              <a:rPr sz="2200" bold="1" color="38A169" latin="Arial"/>
              <a:t>技术亮点</a:t>
            </a:r>
          </a:p>
        </p:txBody>
      </p:sp>
      <p:sp>
        <p:nvSpPr>
          <p:cNvPr id="23" name=""/>
          <p:cNvSpPr/>
          <p:nvPr/>
        </p:nvSpPr>
        <p:spPr>
          <a:xfrm>
            <a:off x="4437380" y="2010240"/>
            <a:ext cx="3317240" cy="365760"/>
          </a:xfrm>
        </p:spPr>
        <p:txBody>
          <a:bodyPr/>
          <a:lstStyle/>
          <a:p>
            <a:r>
              <a:rPr sz="1500" color="4A5568" latin="Arial"/>
              <a:t>逆运动学求解 · 冗余自由度优化</a:t>
            </a:r>
          </a:p>
        </p:txBody>
      </p:sp>
      <p:sp>
        <p:nvSpPr>
          <p:cNvPr id="23" name=""/>
          <p:cNvSpPr/>
          <p:nvPr/>
        </p:nvSpPr>
        <p:spPr>
          <a:xfrm>
            <a:off x="4437380" y="2410240"/>
            <a:ext cx="3317240" cy="365760"/>
          </a:xfrm>
        </p:spPr>
        <p:txBody>
          <a:bodyPr/>
          <a:lstStyle/>
          <a:p>
            <a:r>
              <a:rPr sz="1500" color="4A5568" latin="Arial"/>
              <a:t>抓取-移动-释放完整流水线</a:t>
            </a:r>
          </a:p>
        </p:txBody>
      </p:sp>
      <p:sp>
        <p:nvSpPr>
          <p:cNvPr id="23" name=""/>
          <p:cNvSpPr/>
          <p:nvPr/>
        </p:nvSpPr>
        <p:spPr>
          <a:xfrm>
            <a:off x="4437380" y="2810240"/>
            <a:ext cx="3317240" cy="365760"/>
          </a:xfrm>
        </p:spPr>
        <p:txBody>
          <a:bodyPr/>
          <a:lstStyle/>
          <a:p>
            <a:r>
              <a:rPr sz="1500" color="4A5568" latin="Arial"/>
              <a:t>多参数对比批量实验</a:t>
            </a:r>
          </a:p>
        </p:txBody>
      </p:sp>
      <p:sp>
        <p:nvSpPr>
          <p:cNvPr id="30" name=""/>
          <p:cNvSpPr/>
          <p:nvPr/>
        </p:nvSpPr>
        <p:spPr>
          <a:xfrm>
            <a:off x="8051800" y="1278720"/>
            <a:ext cx="3683000" cy="2800000"/>
          </a:xfrm>
          <a:prstGeom prst="roundRect">
            <a:avLst>
              <a:gd name="adj" fmla="val 68580"/>
            </a:avLst>
          </a:prstGeom>
          <a:solidFill>
            <a:srgbClr val="FFFFFF"/>
          </a:solidFill>
          <a:ln w="0"/>
        </p:spPr>
      </p:sp>
      <p:sp>
        <p:nvSpPr>
          <p:cNvPr id="31" name=""/>
          <p:cNvSpPr/>
          <p:nvPr/>
        </p:nvSpPr>
        <p:spPr>
          <a:xfrm>
            <a:off x="8051800" y="1278720"/>
            <a:ext cx="3683000" cy="91440"/>
          </a:xfrm>
          <a:solidFill>
            <a:srgbClr val="DD6B20"/>
          </a:solidFill>
          <a:ln w="0"/>
        </p:spPr>
      </p:sp>
      <p:sp>
        <p:nvSpPr>
          <p:cNvPr id="32" name=""/>
          <p:cNvSpPr/>
          <p:nvPr/>
        </p:nvSpPr>
        <p:spPr>
          <a:xfrm>
            <a:off x="8234680" y="1461600"/>
            <a:ext cx="3317240" cy="411480"/>
          </a:xfrm>
        </p:spPr>
        <p:txBody>
          <a:bodyPr/>
          <a:lstStyle/>
          <a:p>
            <a:r>
              <a:rPr sz="2200" bold="1" color="DD6B20" latin="Arial"/>
              <a:t>工具平台</a:t>
            </a:r>
          </a:p>
        </p:txBody>
      </p:sp>
      <p:sp>
        <p:nvSpPr>
          <p:cNvPr id="33" name=""/>
          <p:cNvSpPr/>
          <p:nvPr/>
        </p:nvSpPr>
        <p:spPr>
          <a:xfrm>
            <a:off x="8234680" y="2010240"/>
            <a:ext cx="3317240" cy="365760"/>
          </a:xfrm>
        </p:spPr>
        <p:txBody>
          <a:bodyPr/>
          <a:lstStyle/>
          <a:p>
            <a:r>
              <a:rPr sz="1500" color="4A5568" latin="Arial"/>
              <a:t>Python + PyBullet 仿真引擎</a:t>
            </a:r>
          </a:p>
        </p:txBody>
      </p:sp>
      <p:sp>
        <p:nvSpPr>
          <p:cNvPr id="33" name=""/>
          <p:cNvSpPr/>
          <p:nvPr/>
        </p:nvSpPr>
        <p:spPr>
          <a:xfrm>
            <a:off x="8234680" y="2410240"/>
            <a:ext cx="3317240" cy="365760"/>
          </a:xfrm>
        </p:spPr>
        <p:txBody>
          <a:bodyPr/>
          <a:lstStyle/>
          <a:p>
            <a:r>
              <a:rPr sz="1500" color="4A5568" latin="Arial"/>
              <a:t>Franka Panda 7-DOF URDF</a:t>
            </a:r>
          </a:p>
        </p:txBody>
      </p:sp>
      <p:sp>
        <p:nvSpPr>
          <p:cNvPr id="33" name=""/>
          <p:cNvSpPr/>
          <p:nvPr/>
        </p:nvSpPr>
        <p:spPr>
          <a:xfrm>
            <a:off x="8234680" y="2810240"/>
            <a:ext cx="3317240" cy="365760"/>
          </a:xfrm>
        </p:spPr>
        <p:txBody>
          <a:bodyPr/>
          <a:lstStyle/>
          <a:p>
            <a:r>
              <a:rPr sz="1500" color="4A5568" latin="Arial"/>
              <a:t>GitHub 开源项目管理</a:t>
            </a:r>
          </a:p>
        </p:txBody>
      </p:sp>
      <p:sp>
        <p:nvSpPr>
          <p:cNvPr id="40" name=""/>
          <p:cNvSpPr/>
          <p:nvPr/>
        </p:nvSpPr>
        <p:spPr>
          <a:xfrm>
            <a:off x="457200" y="4485720"/>
            <a:ext cx="11000000" cy="457200"/>
          </a:xfrm>
        </p:spPr>
        <p:txBody>
          <a:bodyPr/>
          <a:lstStyle/>
          <a:p>
            <a:r>
              <a:rPr sz="1600" color="4A5568" latin="Arial"/>
              <a:t>▸ main.py：基础定位       ▸   grasp_demo.py：抓取流水线       ▸   parameter_comparison.py：参数对比实验</a:t>
            </a:r>
          </a:p>
        </p:txBody>
      </p:sp>
    </p:spTree>
  </p:cSld>
</p:sld>
</file>

<file path=ppt/slides/slide3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<p:spTree>
      <p:nvGrpSpPr><p:cNvPr id="1" name=""/><p:cNvGrpSpPr/><p:nvPr/></p:nvGrpSpPr>
      <p:grpSpPr/>
<p:sp>
  <p:nvSpPr><p:cNvPr id="2" name=""/><p:cNvSpPr/><p:nvPr/></p:nvSpPr>
  <p:spPr><a:xfrm><a:off x="0" y="0"/><a:ext cx="12192000" cy="6858000"/></a:xfrm>
    <a:solidFill><a:srgbClr val="F5F7FB"/></a:solidFill>
    <a:ln w="0"/></p:spPr>
</p:sp>
<p:sp>
  <p:nvSpPr><p:cNvPr id="3" name=""/><p:cNvSpPr/><p:nvPr/></p:nvSpPr>
  <p:spPr><a:xfrm><a:off x="0" y="0"/><a:ext cx="12192000" cy="91440"/></a:xfrm>
    <a:solidFill><a:srgbClr val="2B579A"/></a:solidFill>
    <a:ln w="0"/></p:spPr>
</p:sp>
<p:sp>
  <p:nvSpPr><p:cNvPr id="4" name=""/><p:cNvSpPr/><p:nvPr/></p:nvSpPr>
  <p:spPr><a:xfrm><a:off x="457200" y="274320"/><a:ext cx="11000000" cy="731520"/></a:xfrm></p:spPr>
  <p:txBody><a:bodyPr/><a:lstStyle/>
    <a:p><a:r><a:rPr sz="3000" bold="1" color="1A3356" latin="Arial"/><a:t>二、技术背景</a:t></a:r></a:p>
  </p:txBody>
</p:sp>
<p:sp>
  <p:nvSpPr><p:cNvPr id="10" name=""/><p:cNvSpPr/><p:nvPr/></p:nvSpPr>
  <p:spPr><a:xfrm><a:off x="457200" y="1278720"/><a:ext cx="5029200" cy="2080000"/></a:xfrm>
    <a:prstGeom prst="roundRect"><a:avLst><a:gd name="adj" fmla="val 68580"/></a:avLst></a:prstGeom>
    <a:solidFill><a:srgbClr val="FFFFFF"/></a:solidFill>
    <a:ln w="0"/></p:spPr>
</p:sp>
<p:sp>
  <p:nvSpPr><p:cNvPr id="11" name=""/><p:cNvSpPr/><p:nvPr/></p:nvSpPr>
  <p:spPr><a:xfrm><a:off x="639600" y="1461600"/><a:ext cx="4700000" cy="457200"/></a:xfrm></p:spPr>
  <p:txBody><a:bodyPr/><a:lstStyle/>
    <a:p><a:r><a:rPr sz="2000" bold="1" color="2B579A" latin="Arial"/><a:t>具身智能 = 大脑 × 身体 × 环境</a:t></a:r></a:p>
  </p:txBody>
</p:sp>
<p:sp>
  <p:nvSpPr><p:cNvPr id="12" name=""/><p:cNvSpPr/><p:nvPr/></p:nvSpPr>
  <p:spPr><a:xfrm><a:off x="639600" y="2008800"/><a:ext cx="4700000" cy="1100000"/></a:xfrm></p:spPr>
  <p:txBody><a:bodyPr/><a:lstStyle/>
    <a:p><a:r><a:rPr sz="1500" color="4A5568" latin="Arial"/><a:t>强调物理形态对智能的必要性。</a:t></a:r></a:p><a:p><a:r><a:rPr sz="1500" color="4A5568" latin="Arial"/><a:t>AI 不只是软件，更是与物理世界交互的实体。</a:t></a:r></a:p><a:p><a:r><a:rPr sz="1500" color="4A5568" latin="Arial"/><a:t>感知 → 决策 → 执行 → 反馈，形成完整闭环。</a:t></a:r></a:p>
  </p:txBody>
</p:sp>
<p:sp>
  <p:nvSpPr><p:cNvPr id="20" name=""/><p:cNvSpPr/><p:nvPr/></p:nvSpPr>
  <p:spPr><a:xfrm><a:off x="5716400" y="1278720"/><a:ext cx="5934400" cy="2080000"/></a:xfrm>
    <a:prstGeom prst="roundRect"><a:avLst><a:gd name="adj" fmla="val 68580"/></a:avLst></a:prstGeom>
    <a:solidFill><a:srgbClr val="FFFFFF"/></a:solidFill>
    <a:ln w="0"/></p:spPr>
</p:sp>
<p:sp>
  <p:nvSpPr><p:cNvPr id="21" name=""/><p:cNvSpPr/><p:nvPr/></p:nvSpPr>
  <p:spPr><a:xfrm><a:off x="5898800" y="1461600"/><a:ext cx="5600000" cy="457200"/></a:xfrm></p:spPr>
  <p:txBody><a:bodyPr/><a:lstStyle/>
    <a:p><a:r><a:rPr sz="2000" bold="1" color="2B579A" latin="Arial"/><a:t>PyBullet 物理仿真引擎</a:t></a:r></a:p>
  </p:txBody>
</p:sp>
<p:sp>
  <p:nvSpPr><p:cNvPr id="22" name=""/><p:cNvSpPr/><p:nvPr/></p:nvSpPr>
  <p:spPr><a:xfrm><a:off x="5898800" y="2008800"/><a:ext cx="5600000" cy="1100000"/></a:xfrm></p:spPr>
  <p:txBody><a:bodyPr/><a:lstStyle/>
    <a:p><a:r><a:rPr sz="1500" color="4A5568" latin="Arial"/><a:t>▸ 开源 · Python 接口 · 内置 URDF 模型库</a:t></a:r></a:p><a:p><a:r><a:rPr sz="1500" color="4A5568" latin="Arial"/><a:t>▸ 碰撞检测 · 逆运动学求解 · 力/力矩控制</a:t></a:r></a:p><a:p><a:r><a:rPr sz="1500" color="4A5568" latin="Arial"/><a:t>▸ Franka Panda 7-DOF 协作机器人完整 URDF</a:t></a:r></a:p>
  </p:txBody>
</p:sp>
<p:sp>
  <p:nvSpPr><p:cNvPr id="30" name=""/><p:cNvSpPr/><p:nvPr/></p:nvSpPr>
  <p:spPr><a:xfrm><a:off x="457200" y="3720800"/><a:ext cx="11000000" cy="457200"/></a:xfrm></p:spPr>
  <p:txBody><a:bodyPr/><a:lstStyle/>
    <a:p><a:r><a:rPr sz="1800" bold="1" color="2D3644" latin="Arial"/><a:t>工作流程</a:t></a:r></a:p>
  </p:txBody>
</p:sp>
<p:sp>
  <p:nvSpPr><p:cNvPr id="40" name=""/><p:cNvSpPr/><p:nvPr/></p:nvSpPr>
  <p:spPr><a:xfrm><a:off x="457200" y="4228800"/><a:ext cx="2590800" cy="1920240"/></a:xfrm>
    <a:prstGeom prst="roundRect"><a:avLst><a:gd name="adj" fmla="val 68580"/></a:avLst></a:prstGeom>
    <a:solidFill><a:srgbClr val="FFFFFF"/></a:solidFill>
    <a:ln w="0"/></p:spPr>
</p:sp>
<p:sp>
  <p:nvSpPr><p:cNvPr id="41" name=""/><p:cNvSpPr/><p:nvPr/></p:nvSpPr>
  <p:spPr><a:xfrm><a:off x="457200" y="4228800"/><a:ext cx="2590800" cy="91440"/></a:xfrm>
    <a:solidFill><a:srgbClr val="2B579A"/></a:solidFill>
    <a:ln w="0"/></p:spPr>
</p:sp>
<p:sp>
  <p:nvSpPr><p:cNvPr id="42" name=""/><p:cNvSpPr/><p:nvPr/></p:nvSpPr>
  <p:spPr><a:xfrm><a:off x="640080" y="4408000"/><a:ext cx="2200000" cy="457200"/></a:xfrm></p:spPr>
  <p:txBody><a:bodyPr/><a:lstStyle/>
    <a:p><a:r><a:rPr sz="1800" bold="1" color="2B579A" latin="Arial"/><a:t>① 设定目标</a:t></a:r></a:p>
  </p:txBody>
</p:sp>
<p:sp>
  <p:nvSpPr><p:cNvPr id="43" name=""/><p:cNvSpPr/><p:nvPr/></p:nvSpPr>
  <p:spPr><a:xfrm><a:off x="640080" y="4950000"/><a:ext cx="2200000" cy="457200"/></a:xfrm></p:spPr>
  <p:txBody><a:bodyPr/><a:lstStyle/>
    <a:p><a:r><a:rPr sz="1400" color="4A5568" latin="Arial"/><a:t>输入末端坐标 [x, y, z]</a:t></a:r></a:p>
  </p:txBody>
</p:sp>
<p:sp>
  <p:nvSpPr><p:cNvPr id="43" name=""/><p:cNvSpPr/><p:nvPr/></p:nvSpPr>
  <p:spPr><a:xfrm><a:off x="3281640" y="4228800"/><a:ext cx="2590800" cy="1920240"/></a:xfrm>
    <a:prstGeom prst="roundRect"><a:avLst><a:gd name="adj" fmla="val 68580"/></a:avLst></a:prstGeom>
    <a:solidFill><a:srgbClr val="FFFFFF"/></a:solidFill>
    <a:ln w="0"/></p:spPr>
</p:sp>
<p:sp>
  <p:nvSpPr><p:cNvPr id="44" name=""/><p:cNvSpPr/><p:nvPr/></p:nvSpPr>
  <p:spPr><a:xfrm><a:off x="3281640" y="4228800"/><a:ext cx="2590800" cy="91440"/></a:xfrm>
    <a:solidFill><a:srgbClr val="2B579A"/></a:solidFill>
    <a:ln w="0"/></p:spPr>
</p:sp>
<p:sp>
  <p:nvSpPr><p:cNvPr id="45" name=""/><p:cNvSpPr/><p:nvPr/></p:nvSpPr>
  <p:spPr><a:xfrm><a:off x="3464520" y="4408000"/><a:ext cx="2200000" cy="457200"/></a:xfrm></p:spPr>
  <p:txBody><a:bodyPr/><a:lstStyle/>
    <a:p><a:r><a:rPr sz="1800" bold="1" color="2B579A" latin="Arial"/><a:t>② IK 求解</a:t></a:r></a:p>
  </p:txBody>
</p:sp>
<p:sp>
  <p:nvSpPr><p:cNvPr id="46" name=""/><p:cNvSpPr/><p:nvPr/></p:nvSpPr>
  <p:spPr><a:xfrm><a:off x="3464520" y="4950000"/><a:ext cx="2200000" cy="457200"/></a:xfrm></p:spPr>
  <p:txBody><a:bodyPr/><a:lstStyle/>
    <a:p><a:r><a:rPr sz="1400" color="4A5568" latin="Arial"/><a:t>逆运动学 → 7个关节角度</a:t></a:r></a:p>
  </p:txBody>
</p:sp>
<p:sp>
  <p:nvSpPr><p:cNvPr id="46" name=""/><p:cNvSpPr/><p:nvPr/></p:nvSpPr>
  <p:spPr><a:xfrm><a:off x="6106080" y="4228800"/><a:ext cx="2590800" cy="1920240"/></a:xfrm>
    <a:prstGeom prst="roundRect"><a:avLst><a:gd name="adj" fmla="val 68580"/></a:avLst></a:prstGeom>
    <a:solidFill><a:srgbClr val="FFFFFF"/></a:solidFill>
    <a:ln w="0"/></p:spPr>
</p:sp>
<p:sp>
  <p:nvSpPr><p:cNvPr id="47" name=""/><p:cNvSpPr/><p:nvPr/></p:nvSpPr>
  <p:spPr><a:xfrm><a:off x="6106080" y="4228800"/><a:ext cx="2590800" cy="91440"/></a:xfrm>
    <a:solidFill><a:srgbClr val="2B579A"/></a:solidFill>
    <a:ln w="0"/></p:spPr>
</p:sp>
<p:sp>
  <p:nvSpPr><p:cNvPr id="48" name=""/><p:cNvSpPr/><p:nvPr/></p:nvSpPr>
  <p:spPr><a:xfrm><a:off x="6288960" y="4408000"/><a:ext cx="2200000" cy="457200"/></a:xfrm></p:spPr>
  <p:txBody><a:bodyPr/><a:lstStyle/>
    <a:p><a:r><a:rPr sz="1800" bold="1" color="2B579A" latin="Arial"/><a:t>③ 位置控制</a:t></a:r></a:p>
  </p:txBody>
</p:sp>
<p:sp>
  <p:nvSpPr><p:cNvPr id="49" name=""/><p:cNvSpPr/><p:nvPr/></p:nvSpPr>
  <p:spPr><a:xfrm><a:off x="6288960" y="4950000"/><a:ext cx="2200000" cy="457200"/></a:xfrm></p:spPr>
  <p:txBody><a:bodyPr/><a:lstStyle/>
    <a:p><a:r><a:rPr sz="1400" color="4A5568" latin="Arial"/><a:t>setJointMotorControl2</a:t></a:r></a:p>
  </p:txBody>
</p:sp>
<p:sp>
  <p:nvSpPr><p:cNvPr id="49" name=""/><p:cNvSpPr/><p:nvPr/></p:nvSpPr>
  <p:spPr><a:xfrm><a:off x="8930520" y="4228800"/><a:ext cx="2590800" cy="1920240"/></a:xfrm>
    <a:prstGeom prst="roundRect"><a:avLst><a:gd name="adj" fmla="val 68580"/></a:avLst></a:prstGeom>
    <a:solidFill><a:srgbClr val="FFFFFF"/></a:solidFill>
    <a:ln w="0"/></p:spPr>
</p:sp>
<p:sp>
  <p:nvSpPr><p:cNvPr id="50" name=""/><p:cNvSpPr/><p:nvPr/></p:nvSpPr>
  <p:spPr><a:xfrm><a:off x="8930520" y="4228800"/><a:ext cx="2590800" cy="91440"/></a:xfrm>
    <a:solidFill><a:srgbClr val="2B579A"/></a:solidFill>
    <a:ln w="0"/></p:spPr>
</p:sp>
<p:sp>
  <p:nvSpPr><p:cNvPr id="51" name=""/><p:cNvSpPr/><p:nvPr/></p:nvSpPr>
  <p:spPr><a:xfrm><a:off x="9113400" y="4408000"/><a:ext cx="2200000" cy="457200"/></a:xfrm></p:spPr>
  <p:txBody><a:bodyPr/><a:lstStyle/>
    <a:p><a:r><a:rPr sz="1800" bold="1" color="2B579A" latin="Arial"/><a:t>④ 逐步逼近</a:t></a:r></a:p>
  </p:txBody>
</p:sp>
<p:sp>
  <p:nvSpPr><p:cNvPr id="52" name=""/><p:cNvSpPr/><p:nvPr/></p:nvSpPr>
  <p:spPr><a:xfrm><a:off x="9113400" y="4950000"/><a:ext cx="2200000" cy="457200"/></a:xfrm></p:spPr>
  <p:txBody><a:bodyPr/><a:lstStyle/>
    <a:p><a:r><a:rPr sz="1400" color="4A5568" latin="Arial"/><a:t>误差 < 0.3mm</a:t></a:r></a:p>
  </p:txBody>
</p:sp>
    </p:spTree></p:cSld>
</p:sld>
</file>

<file path=ppt/slides/slide4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<p:spTree>
      <p:nvGrpSpPr><p:cNvPr id="1" name=""/><p:cNvGrpSpPr/><p:nvPr/></p:nvGrpSpPr>
      <p:grpSpPr/>
<p:sp>
  <p:nvSpPr><p:cNvPr id="2" name=""/><p:cNvSpPr/><p:nvPr/></p:nvSpPr>
  <p:spPr><a:xfrm><a:off x="0" y="0"/><a:ext cx="12192000" cy="6858000"/></a:xfrm>
    <a:solidFill><a:srgbClr val="F5F7FB"/></a:solidFill>
    <a:ln w="0"/></p:spPr>
</p:sp>
<p:sp>
  <p:nvSpPr><p:cNvPr id="3" name=""/><p:cNvSpPr/><p:nvPr/></p:nvSpPr>
  <p:spPr><a:xfrm><a:off x="0" y="0"/><a:ext cx="12192000" cy="91440"/></a:xfrm>
    <a:solidFill><a:srgbClr val="2B579A"/></a:solidFill>
    <a:ln w="0"/></p:spPr>
</p:sp>
<p:sp>
  <p:nvSpPr><p:cNvPr id="4" name=""/><p:cNvSpPr/><p:nvPr/></p:nvSpPr>
  <p:spPr><a:xfrm><a:off x="457200" y="274320"/><a:ext cx="11000000" cy="731520"/></a:xfrm></p:spPr>
  <p:txBody><a:bodyPr/><a:lstStyle/>
    <a:p><a:r><a:rPr sz="3000" bold="1" color="1A3356" latin="Arial"/><a:t>三、核心实现 —— 逆运动学定位</a:t></a:r></a:p>
  </p:txBody>
</p:sp>
<p:sp>
  <p:nvSpPr><p:cNvPr id="10" name=""/><p:cNvSpPr/><p:nvPr/></p:nvSpPr>
  <p:spPr><a:xfrm><a:off x="457200" y="1278720"/><a:ext cx="5943600" cy="4663440"/></a:xfrm>
    <a:prstGeom prst="roundRect"><a:avLst><a:gd name="adj" fmla="val 68580"/></a:avLst></a:prstGeom>
    <a:solidFill><a:srgbClr val="1E1E29"/></a:solidFill>
    <a:ln w="0"/></p:spPr>
</p:sp>
<p:sp>
  <p:nvSpPr><p:cNvPr id="11" name=""/><p:cNvSpPr/><p:nvPr/></p:nvSpPr>
  <p:spPr><a:xfrm><a:off x="639600" y="1461600"/><a:ext cx="5570000" cy="4300000"/></a:xfrm></p:spPr>
  <p:txBody><a:bodyPr/><a:lstStyle/>
    <a:p><a:r><a:rPr sz="1300" color="CE9178" latin="Courier New"/><a:t>def solve_ik(robot_id, end_effector, target):</a:t></a:r></a:p><a:p><a:r><a:rPr sz="1100" color="6A9955" latin="Courier New"/><a:t>    """逆运动学：笛卡尔坐标 → 关节角度"""</a:t></a:r></a:p><a:p><a:r><a:rPr sz="1300" color="D4D4D4" latin="Courier New"/><a:t>    return p.calculateInverseKinematics(</a:t></a:r></a:p><a:p><a:r><a:rPr sz="1300" color="D4D4D4" latin="Courier New"/><a:t>        robot_id, end_effector, target,</a:t></a:r></a:p><a:p><a:r><a:rPr sz="1300" color="D4D4D4" latin="Courier New"/><a:t>        maxNumIterations=100,</a:t></a:r></a:p><a:p><a:r><a:rPr sz="1300" color="D4D4D4" latin="Courier New"/><a:t>        residualThreshold=1e-4)</a:t></a:r></a:p><a:p><a:r><a:rPr sz="800" color="D4D4D4" latin="Courier New"/><a:t></a:t></a:r></a:p><a:p><a:r><a:rPr sz="1300" color="CE9178" latin="Courier New"/><a:t>def move_to_position(target, steps=120):</a:t></a:r></a:p><a:p><a:r><a:rPr sz="1300" color="D4D4D4" latin="Courier New"/><a:t>    joint_angles = solve_ik(target)</a:t></a:r></a:p><a:p><a:r><a:rPr sz="1300" color="D4D4D4" latin="Courier New"/><a:t>    for step in range(steps):</a:t></a:r></a:p><a:p><a:r><a:rPr sz="1300" color="D4D4D4" latin="Courier New"/><a:t>        for j, idx in enumerate(joints):</a:t></a:r></a:p><a:p><a:r><a:rPr sz="1300" color="D4D4D4" latin="Courier New"/><a:t>            p.setJointMotorControl2(</a:t></a:r></a:p><a:p><a:r><a:rPr sz="1300" color="D4D4D4" latin="Courier New"/><a:t>                robot_id, idx,</a:t></a:r></a:p><a:p><a:r><a:rPr sz="1100" color="569CD6" latin="Courier New"/><a:t>                p.POSITION_CONTROL,</a:t></a:r></a:p><a:p><a:r><a:rPr sz="1300" color="D4D4D4" latin="Courier New"/><a:t>                targetPosition=angles[j],</a:t></a:r></a:p><a:p><a:r><a:rPr sz="1300" color="D4D4D4" latin="Courier New"/><a:t>                force=500.0)</a:t></a:r></a:p><a:p><a:r><a:rPr sz="1300" color="D4D4D4" latin="Courier New"/><a:t>        p.stepSimulation()</a:t></a:r></a:p>
  </p:txBody>
</p:sp>
<p:sp>
  <p:nvSpPr><p:cNvPr id="20" name=""/><p:cNvSpPr/><p:nvPr/></p:nvSpPr>
  <p:spPr><a:xfrm><a:off x="6620000" y="1278720"/><a:ext cx="5024200" cy="2090000"/></a:xfrm>
    <a:prstGeom prst="roundRect"><a:avLst><a:gd name="adj" fmla="val 68580"/></a:avLst></a:prstGeom>
    <a:solidFill><a:srgbClr val="FFFFFF"/></a:solidFill>
    <a:ln w="0"/></p:spPr>
</p:sp>
<p:sp>
  <p:nvSpPr><p:cNvPr id="21" name=""/><p:cNvSpPr/><p:nvPr/></p:nvSpPr>
  <p:spPr><a:xfrm><a:off x="6802400" y="1461600"/><a:ext cx="4660000" cy="1700000"/></a:xfrm></p:spPr>
  <p:txBody><a:bodyPr/><a:lstStyle/>
    <a:p><a:r><a:rPr sz="1700" color="2D3644" latin="Arial"/><a:t>▸ 设置目标坐标 [x, y, z]</a:t></a:r></a:p><a:p><a:r><a:rPr sz="1700" color="2D3644" latin="Arial"/><a:t>▸ IK 求解器计算 7 个关节角</a:t></a:r></a:p><a:p><a:r><a:rPr sz="1700" color="2D3644" latin="Arial"/><a:t>▸ 关节空间位置控制同步驱动</a:t></a:r></a:p><a:p><a:r><a:rPr sz="1700" color="38A169" latin="Arial"/><a:t>▸ 迭代逼近，误差 < 0.3 mm</a:t></a:r></a:p>
  </p:txBody>
</p:sp>
<p:sp>
  <p:nvSpPr><p:cNvPr id="30" name=""/><p:cNvSpPr/><p:nvPr/></p:nvSpPr>
  <p:spPr><a:xfrm><a:off x="6620000" y="3576720"/><a:ext cx="5024200" cy="2365480"/></a:xfrm>
    <a:prstGeom prst="roundRect"><a:avLst><a:gd name="adj" fmla="val 68580"/></a:avLst></a:prstGeom>
    <a:solidFill><a:srgbClr val="2B579A"/></a:solidFill>
    <a:ln w="0"/></p:spPr>
</p:sp>
<p:sp>
  <p:nvSpPr><p:cNvPr id="31" name=""/><p:cNvSpPr/><p:nvPr/></p:nvSpPr>
  <p:spPr><a:xfrm><a:off x="6802400" y="3759600"/><a:ext cx="4660000" cy="2000000"/></a:xfrm></p:spPr>
  <p:txBody><a:bodyPr/><a:lstStyle/>
    <a:p><a:r><a:rPr sz="1800" color="FFFFFF" latin="Arial"/><a:t>✓  5 个不同方向目标全部可达</a:t></a:r></a:p><a:p><a:r><a:rPr sz="1800" color="FFFFFF" latin="Arial"/><a:t>✓  定位误差 < 0.3 mm</a:t></a:r></a:p><a:p><a:r><a:rPr sz="1800" color="FFFFFF" latin="Arial"/><a:t>✓  关节角度连续变化（无跳变）</a:t></a:r></a:p><a:p><a:r><a:rPr sz="1800" color="FFFFFF" latin="Arial"/><a:t>✓  逆运动学在中心区域精度最高</a:t></a:r></a:p>
  </p:txBody>
</p:sp>
    </p:spTree>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2000" cy="6858000"/>
          </a:xfrm>
          <a:solidFill>
            <a:srgbClr val="F5F7FB"/>
          </a:solidFill>
          <a:ln w="0"/>
        </p:spPr>
      </p:sp>
      <p:sp>
        <p:nvSpPr>
          <p:cNvPr id="3" name=""/>
          <p:cNvSpPr/>
          <p:nvPr/>
        </p:nvSpPr>
        <p:spPr>
          <a:xfrm>
            <a:off x="0" y="0"/>
            <a:ext cx="12192000" cy="91440"/>
          </a:xfrm>
          <a:solidFill>
            <a:srgbClr val="2B579A"/>
          </a:solidFill>
          <a:ln w="0"/>
        </p:spPr>
      </p:sp>
      <p:sp>
        <p:nvSpPr>
          <p:cNvPr id="4" name=""/>
          <p:cNvSpPr/>
          <p:nvPr/>
        </p:nvSpPr>
        <p:spPr>
          <a:xfrm>
            <a:off x="457200" y="274320"/>
            <a:ext cx="11000000" cy="731520"/>
          </a:xfrm>
        </p:spPr>
        <p:txBody>
          <a:bodyPr/>
          <a:lstStyle/>
          <a:p>
            <a:r>
              <a:rPr sz="3000" bold="1" color="1A3356" latin="Arial"/>
              <a:t>四、抓取-移动-释放 流水线</a:t>
            </a:r>
          </a:p>
        </p:txBody>
      </p:sp>
      <p:sp>
        <p:nvSpPr>
          <p:cNvPr id="10" name=""/>
          <p:cNvSpPr/>
          <p:nvPr/>
        </p:nvSpPr>
        <p:spPr>
          <a:xfrm>
            <a:off x="457200" y="1227720"/>
            <a:ext cx="2559360" cy="1900000"/>
          </a:xfrm>
          <a:prstGeom prst="roundRect">
            <a:avLst>
              <a:gd name="adj" fmla="val 68580"/>
            </a:avLst>
          </a:prstGeom>
          <a:solidFill>
            <a:srgbClr val="FFFFFF"/>
          </a:solidFill>
          <a:ln w="0"/>
        </p:spPr>
      </p:sp>
      <p:sp>
        <p:nvSpPr>
          <p:cNvPr id="11" name=""/>
          <p:cNvSpPr/>
          <p:nvPr/>
        </p:nvSpPr>
        <p:spPr>
          <a:xfrm>
            <a:off x="457200" y="1227720"/>
            <a:ext cx="91440" cy="91440"/>
          </a:xfrm>
          <a:solidFill>
            <a:srgbClr val="38A169"/>
          </a:solidFill>
          <a:ln w="0"/>
        </p:spPr>
      </p:sp>
      <p:sp>
        <p:nvSpPr>
          <p:cNvPr id="12" name=""/>
          <p:cNvSpPr/>
          <p:nvPr/>
        </p:nvSpPr>
        <p:spPr>
          <a:xfrm>
            <a:off x="640080" y="1400800"/>
            <a:ext cx="2200000" cy="457200"/>
          </a:xfrm>
        </p:spPr>
        <p:txBody>
          <a:bodyPr/>
          <a:lstStyle/>
          <a:p>
            <a:r>
              <a:rPr sz="1800" bold="1" color="38A169" latin="Arial"/>
              <a:t>① 预抓取</a:t>
            </a:r>
          </a:p>
        </p:txBody>
      </p:sp>
      <p:sp>
        <p:nvSpPr>
          <p:cNvPr id="13" name=""/>
          <p:cNvSpPr/>
          <p:nvPr/>
        </p:nvSpPr>
        <p:spPr>
          <a:xfrm>
            <a:off x="640080" y="1940800"/>
            <a:ext cx="2200000" cy="411480"/>
          </a:xfrm>
        </p:spPr>
        <p:txBody>
          <a:bodyPr/>
          <a:lstStyle/>
          <a:p>
            <a:r>
              <a:rPr sz="1400" color="4A5568" latin="Arial"/>
              <a:t>移动到物体上方 15cm</a:t>
            </a:r>
          </a:p>
        </p:txBody>
      </p:sp>
      <p:sp>
        <p:nvSpPr>
          <p:cNvPr id="14" name=""/>
          <p:cNvSpPr/>
          <p:nvPr/>
        </p:nvSpPr>
        <p:spPr>
          <a:xfrm>
            <a:off x="640080" y="2320000"/>
            <a:ext cx="2200000" cy="411480"/>
          </a:xfrm>
        </p:spPr>
        <p:txBody>
          <a:bodyPr/>
          <a:lstStyle/>
          <a:p>
            <a:r>
              <a:rPr sz="1400" color="4A5568" latin="Arial"/>
              <a:t>准备抓取姿态</a:t>
            </a:r>
          </a:p>
        </p:txBody>
      </p:sp>
      <p:sp>
        <p:nvSpPr>
          <p:cNvPr id="14" name=""/>
          <p:cNvSpPr/>
          <p:nvPr/>
        </p:nvSpPr>
        <p:spPr>
          <a:xfrm>
            <a:off x="3383280" y="1227720"/>
            <a:ext cx="2559360" cy="1900000"/>
          </a:xfrm>
          <a:prstGeom prst="roundRect">
            <a:avLst>
              <a:gd name="adj" fmla="val 68580"/>
            </a:avLst>
          </a:prstGeom>
          <a:solidFill>
            <a:srgbClr val="FFFFFF"/>
          </a:solidFill>
          <a:ln w="0"/>
        </p:spPr>
      </p:sp>
      <p:sp>
        <p:nvSpPr>
          <p:cNvPr id="15" name=""/>
          <p:cNvSpPr/>
          <p:nvPr/>
        </p:nvSpPr>
        <p:spPr>
          <a:xfrm>
            <a:off x="3383280" y="1227720"/>
            <a:ext cx="91440" cy="91440"/>
          </a:xfrm>
          <a:solidFill>
            <a:srgbClr val="4682B4"/>
          </a:solidFill>
          <a:ln w="0"/>
        </p:spPr>
      </p:sp>
      <p:sp>
        <p:nvSpPr>
          <p:cNvPr id="16" name=""/>
          <p:cNvSpPr/>
          <p:nvPr/>
        </p:nvSpPr>
        <p:spPr>
          <a:xfrm>
            <a:off x="3566160" y="1400800"/>
            <a:ext cx="2200000" cy="457200"/>
          </a:xfrm>
        </p:spPr>
        <p:txBody>
          <a:bodyPr/>
          <a:lstStyle/>
          <a:p>
            <a:r>
              <a:rPr sz="1800" bold="1" color="4682B4" latin="Arial"/>
              <a:t>② 下降抓取</a:t>
            </a:r>
          </a:p>
        </p:txBody>
      </p:sp>
      <p:sp>
        <p:nvSpPr>
          <p:cNvPr id="17" name=""/>
          <p:cNvSpPr/>
          <p:nvPr/>
        </p:nvSpPr>
        <p:spPr>
          <a:xfrm>
            <a:off x="3566160" y="1940800"/>
            <a:ext cx="2200000" cy="411480"/>
          </a:xfrm>
        </p:spPr>
        <p:txBody>
          <a:bodyPr/>
          <a:lstStyle/>
          <a:p>
            <a:r>
              <a:rPr sz="1400" color="4A5568" latin="Arial"/>
              <a:t>末端下降至抓取高度</a:t>
            </a:r>
          </a:p>
        </p:txBody>
      </p:sp>
      <p:sp>
        <p:nvSpPr>
          <p:cNvPr id="18" name=""/>
          <p:cNvSpPr/>
          <p:nvPr/>
        </p:nvSpPr>
        <p:spPr>
          <a:xfrm>
            <a:off x="3566160" y="2320000"/>
            <a:ext cx="2200000" cy="411480"/>
          </a:xfrm>
        </p:spPr>
        <p:txBody>
          <a:bodyPr/>
          <a:lstStyle/>
          <a:p>
            <a:r>
              <a:rPr sz="1400" color="4A5568" latin="Arial"/>
              <a:t>闭合夹爪，抓取物体</a:t>
            </a:r>
          </a:p>
        </p:txBody>
      </p:sp>
      <p:sp>
        <p:nvSpPr>
          <p:cNvPr id="18" name=""/>
          <p:cNvSpPr/>
          <p:nvPr/>
        </p:nvSpPr>
        <p:spPr>
          <a:xfrm>
            <a:off x="6309360" y="1227720"/>
            <a:ext cx="2559360" cy="1900000"/>
          </a:xfrm>
          <a:prstGeom prst="roundRect">
            <a:avLst>
              <a:gd name="adj" fmla="val 68580"/>
            </a:avLst>
          </a:prstGeom>
          <a:solidFill>
            <a:srgbClr val="FFFFFF"/>
          </a:solidFill>
          <a:ln w="0"/>
        </p:spPr>
      </p:sp>
      <p:sp>
        <p:nvSpPr>
          <p:cNvPr id="19" name=""/>
          <p:cNvSpPr/>
          <p:nvPr/>
        </p:nvSpPr>
        <p:spPr>
          <a:xfrm>
            <a:off x="6309360" y="1227720"/>
            <a:ext cx="91440" cy="91440"/>
          </a:xfrm>
          <a:solidFill>
            <a:srgbClr val="D69E2E"/>
          </a:solidFill>
          <a:ln w="0"/>
        </p:spPr>
      </p:sp>
      <p:sp>
        <p:nvSpPr>
          <p:cNvPr id="20" name=""/>
          <p:cNvSpPr/>
          <p:nvPr/>
        </p:nvSpPr>
        <p:spPr>
          <a:xfrm>
            <a:off x="6492240" y="1400800"/>
            <a:ext cx="2200000" cy="457200"/>
          </a:xfrm>
        </p:spPr>
        <p:txBody>
          <a:bodyPr/>
          <a:lstStyle/>
          <a:p>
            <a:r>
              <a:rPr sz="1800" bold="1" color="D69E2E" latin="Arial"/>
              <a:t>③ 抬升搬运</a:t>
            </a:r>
          </a:p>
        </p:txBody>
      </p:sp>
      <p:sp>
        <p:nvSpPr>
          <p:cNvPr id="21" name=""/>
          <p:cNvSpPr/>
          <p:nvPr/>
        </p:nvSpPr>
        <p:spPr>
          <a:xfrm>
            <a:off x="6492240" y="1940800"/>
            <a:ext cx="2200000" cy="411480"/>
          </a:xfrm>
        </p:spPr>
        <p:txBody>
          <a:bodyPr/>
          <a:lstStyle/>
          <a:p>
            <a:r>
              <a:rPr sz="1400" color="4A5568" latin="Arial"/>
              <a:t>抬升至安全高度</a:t>
            </a:r>
          </a:p>
        </p:txBody>
      </p:sp>
      <p:sp>
        <p:nvSpPr>
          <p:cNvPr id="22" name=""/>
          <p:cNvSpPr/>
          <p:nvPr/>
        </p:nvSpPr>
        <p:spPr>
          <a:xfrm>
            <a:off x="6492240" y="2320000"/>
            <a:ext cx="2200000" cy="411480"/>
          </a:xfrm>
        </p:spPr>
        <p:txBody>
          <a:bodyPr/>
          <a:lstStyle/>
          <a:p>
            <a:r>
              <a:rPr sz="1400" color="4A5568" latin="Arial"/>
              <a:t>水平搬运至目标位置</a:t>
            </a:r>
          </a:p>
        </p:txBody>
      </p:sp>
      <p:sp>
        <p:nvSpPr>
          <p:cNvPr id="22" name=""/>
          <p:cNvSpPr/>
          <p:nvPr/>
        </p:nvSpPr>
        <p:spPr>
          <a:xfrm>
            <a:off x="9235440" y="1227720"/>
            <a:ext cx="2559360" cy="1900000"/>
          </a:xfrm>
          <a:prstGeom prst="roundRect">
            <a:avLst>
              <a:gd name="adj" fmla="val 68580"/>
            </a:avLst>
          </a:prstGeom>
          <a:solidFill>
            <a:srgbClr val="FFFFFF"/>
          </a:solidFill>
          <a:ln w="0"/>
        </p:spPr>
      </p:sp>
      <p:sp>
        <p:nvSpPr>
          <p:cNvPr id="23" name=""/>
          <p:cNvSpPr/>
          <p:nvPr/>
        </p:nvSpPr>
        <p:spPr>
          <a:xfrm>
            <a:off x="9235440" y="1227720"/>
            <a:ext cx="91440" cy="91440"/>
          </a:xfrm>
          <a:solidFill>
            <a:srgbClr val="E53E3E"/>
          </a:solidFill>
          <a:ln w="0"/>
        </p:spPr>
      </p:sp>
      <p:sp>
        <p:nvSpPr>
          <p:cNvPr id="24" name=""/>
          <p:cNvSpPr/>
          <p:nvPr/>
        </p:nvSpPr>
        <p:spPr>
          <a:xfrm>
            <a:off x="9418320" y="1400800"/>
            <a:ext cx="2200000" cy="457200"/>
          </a:xfrm>
        </p:spPr>
        <p:txBody>
          <a:bodyPr/>
          <a:lstStyle/>
          <a:p>
            <a:r>
              <a:rPr sz="1800" bold="1" color="E53E3E" latin="Arial"/>
              <a:t>④ 释放</a:t>
            </a:r>
          </a:p>
        </p:txBody>
      </p:sp>
      <p:sp>
        <p:nvSpPr>
          <p:cNvPr id="25" name=""/>
          <p:cNvSpPr/>
          <p:nvPr/>
        </p:nvSpPr>
        <p:spPr>
          <a:xfrm>
            <a:off x="9418320" y="1940800"/>
            <a:ext cx="2200000" cy="411480"/>
          </a:xfrm>
        </p:spPr>
        <p:txBody>
          <a:bodyPr/>
          <a:lstStyle/>
          <a:p>
            <a:r>
              <a:rPr sz="1400" color="4A5568" latin="Arial"/>
              <a:t>打开夹爪，释放物体</a:t>
            </a:r>
          </a:p>
        </p:txBody>
      </p:sp>
      <p:sp>
        <p:nvSpPr>
          <p:cNvPr id="26" name=""/>
          <p:cNvSpPr/>
          <p:nvPr/>
        </p:nvSpPr>
        <p:spPr>
          <a:xfrm>
            <a:off x="9418320" y="2320000"/>
            <a:ext cx="2200000" cy="411480"/>
          </a:xfrm>
        </p:spPr>
        <p:txBody>
          <a:bodyPr/>
          <a:lstStyle/>
          <a:p>
            <a:r>
              <a:rPr sz="1400" color="4A5568" latin="Arial"/>
              <a:t>抬升离开，任务完成</a:t>
            </a:r>
          </a:p>
        </p:txBody>
      </p:sp>
    </p:spTree>
  </p:cSld>
</p:sld>
</file>

<file path=ppt/slides/slide6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<p:spTree>
      <p:nvGrpSpPr><p:cNvPr id="1" name=""/><p:cNvGrpSpPr/><p:nvPr/></p:nvGrpSpPr>
      <p:grpSpPr/>
<p:sp>
  <p:nvSpPr><p:cNvPr id="2" name=""/><p:cNvSpPr/><p:nvPr/></p:nvSpPr>
  <p:spPr><a:xfrm><a:off x="0" y="0"/><a:ext cx="12192000" cy="6858000"/></a:xfrm>
    <a:solidFill><a:srgbClr val="F5F7FB"/></a:solidFill>
    <a:ln w="0"/></p:spPr>
</p:sp>
<p:sp>
  <p:nvSpPr><p:cNvPr id="3" name=""/><p:cNvSpPr/><p:nvPr/></p:nvSpPr>
  <p:spPr><a:xfrm><a:off x="0" y="0"/><a:ext cx="12192000" cy="91440"/></a:xfrm>
    <a:solidFill><a:srgbClr val="2B579A"/></a:solidFill>
    <a:ln w="0"/></p:spPr>
</p:sp>
<p:sp>
  <p:nvSpPr><p:cNvPr id="4" name=""/><p:cNvSpPr/><p:nvPr/></p:nvSpPr>
  <p:spPr><a:xfrm><a:off x="457200" y="274320"/><a:ext cx="11000000" cy="731520"/></a:xfrm></p:spPr>
  <p:txBody><a:bodyPr/><a:lstStyle/>
    <a:p><a:r><a:rPr sz="3000" bold="1" color="1A3356" latin="Arial"/><a:t>五、多参数对比实验（加分项）</a:t></a:r></a:p>
  </p:txBody>
</p:sp>
<p:sp>
  <p:nvSpPr><p:cNvPr id="10" name=""/><p:cNvSpPr/><p:nvPr/></p:nvSpPr>
  <p:spPr><a:xfrm><a:off x="457200" y="1278720"/><a:ext cx="3650000" cy="4050000"/></a:xfrm>
    <a:prstGeom prst="roundRect"><a:avLst><a:gd name="adj" fmla="val 68580"/></a:avLst></a:prstGeom>
    <a:solidFill><a:srgbClr val="FFFFFF"/></a:solidFill>
    <a:ln w="0"/></p:spPr>
</p:sp>
<p:sp>
  <p:nvSpPr><p:cNvPr id="11" name=""/><p:cNvSpPr/><p:nvPr/></p:nvSpPr>
  <p:spPr><a:xfrm><a:off x="457200" y="1278720"/><a:ext cx="3650000" cy="91440"/></a:xfrm>
    <a:solidFill><a:srgbClr val="38A169"/></a:solidFill>
    <a:ln w="0"/></p:spPr>
</p:sp>
<p:sp>
  <p:nvSpPr><p:cNvPr id="12" name=""/><p:cNvSpPr/><p:nvPr/></p:nvSpPr>
  <p:spPr><a:xfrm><a:off x="640080" y="1461600"/><a:ext cx="3300000" cy="457200"/></a:xfrm></p:spPr>
  <p:txBody><a:bodyPr/><a:lstStyle/>
    <a:p><a:r><a:rPr sz="2200" bold="1" color="38A169" latin="Arial"/><a:t>沿 X 轴变化</a:t></a:r></a:p>
  </p:txBody>
</p:sp>
<p:sp>
  <p:nvSpPr><p:cNvPr id="13" name=""/><p:cNvSpPr/><p:nvPr/></p:nvSpPr>
  <p:spPr><a:xfrm><a:off x="640080" y="2008000"/><a:ext cx="3300000" cy="411480"/></a:xfrm></p:spPr>
  <p:txBody><a:bodyPr/><a:lstStyle/>
    <a:p><a:r><a:rPr sz="1500" color="4A5568" latin="Arial"/><a:t>Y=0, Z=0.3 · X: 0.3→0.7, 9 组</a:t></a:r></a:p>
  </p:txBody>
</p:sp>
<p:sp>
  <p:nvSpPr><p:cNvPr id="14" name=""/><p:cNvSpPr/><p:nvPr/></p:nvSpPr>
  <p:spPr><a:xfrm><a:off x="640080" y="2654000"/><a:ext cx="3300000" cy="457200"/></a:xfrm></p:spPr>
  <p:txBody><a:bodyPr/><a:lstStyle/>
    <a:p><a:r><a:rPr sz="1600" bold="1" color="2D3644" latin="Arial"/><a:t>实验结果</a:t></a:r></a:p>
  </p:txBody>
</p:sp>
<p:sp>
  <p:nvSpPr><p:cNvPr id="15" name=""/><p:cNvSpPr/><p:nvPr/></p:nvSpPr>
  <p:spPr><a:xfrm><a:off x="640080" y="3052000"/><a:ext cx="3300000" cy="411480"/></a:xfrm></p:spPr>
  <p:txBody><a:bodyPr/><a:lstStyle/>
    <a:p><a:r><a:rPr sz="1500" color="4A5568" latin="Arial"/><a:t>误差 0.1~0.2mm</a:t></a:r></a:p>
  </p:txBody>
</p:sp>
<p:sp>
  <p:nvSpPr><p:cNvPr id="16" name=""/><p:cNvSpPr/><p:nvPr/></p:nvSpPr>
  <p:spPr><a:xfrm><a:off x="640080" y="3400000"/><a:ext cx="3300000" cy="411480"/></a:xfrm></p:spPr>
  <p:txBody><a:bodyPr/><a:lstStyle/>
    <a:p><a:r><a:rPr sz="1500" color="4A5568" latin="Arial"/><a:t>边界处略微增大</a:t></a:r></a:p>
  </p:txBody>
</p:sp>
<p:sp>
  <p:nvSpPr><p:cNvPr id="16" name=""/><p:cNvSpPr/><p:nvPr/></p:nvSpPr>
  <p:spPr><a:xfrm><a:off x="4279920" y="1278720"/><a:ext cx="3650000" cy="4050000"/></a:xfrm>
    <a:prstGeom prst="roundRect"><a:avLst><a:gd name="adj" fmla="val 68580"/></a:avLst></a:prstGeom>
    <a:solidFill><a:srgbClr val="FFFFFF"/></a:solidFill>
    <a:ln w="0"/></p:spPr>
</p:sp>
<p:sp>
  <p:nvSpPr><p:cNvPr id="17" name=""/><p:cNvSpPr/><p:nvPr/></p:nvSpPr>
  <p:spPr><a:xfrm><a:off x="4279920" y="1278720"/><a:ext cx="3650000" cy="91440"/></a:xfrm>
    <a:solidFill><a:srgbClr val="4472C4"/></a:solidFill>
    <a:ln w="0"/></p:spPr>
</p:sp>
<p:sp>
  <p:nvSpPr><p:cNvPr id="18" name=""/><p:cNvSpPr/><p:nvPr/></p:nvSpPr>
  <p:spPr><a:xfrm><a:off x="4462800" y="1461600"/><a:ext cx="3300000" cy="457200"/></a:xfrm></p:spPr>
  <p:txBody><a:bodyPr/><a:lstStyle/>
    <a:p><a:r><a:rPr sz="2200" bold="1" color="4472C4" latin="Arial"/><a:t>沿 Y 轴变化</a:t></a:r></a:p>
  </p:txBody>
</p:sp>
<p:sp>
  <p:nvSpPr><p:cNvPr id="19" name=""/><p:cNvSpPr/><p:nvPr/></p:nvSpPr>
  <p:spPr><a:xfrm><a:off x="4462800" y="2008000"/><a:ext cx="3300000" cy="411480"/></a:xfrm></p:spPr>
  <p:txBody><a:bodyPr/><a:lstStyle/>
    <a:p><a:r><a:rPr sz="1500" color="4A5568" latin="Arial"/><a:t>X=0.5, Z=0.3 · Y: -0.3→0.3, 7 组</a:t></a:r></a:p>
  </p:txBody>
</p:sp>
<p:sp>
  <p:nvSpPr><p:cNvPr id="20" name=""/><p:cNvSpPr/><p:nvPr/></p:nvSpPr>
  <p:spPr><a:xfrm><a:off x="4462800" y="2654000"/><a:ext cx="3300000" cy="457200"/></a:xfrm></p:spPr>
  <p:txBody><a:bodyPr/><a:lstStyle/>
    <a:p><a:r><a:rPr sz="1600" bold="1" color="2D3644" latin="Arial"/><a:t>实验结果</a:t></a:r></a:p>
  </p:txBody>
</p:sp>
<p:sp>
  <p:nvSpPr><p:cNvPr id="21" name=""/><p:cNvSpPr/><p:nvPr/></p:nvSpPr>
  <p:spPr><a:xfrm><a:off x="4462800" y="3052000"/><a:ext cx="3300000" cy="411480"/></a:xfrm></p:spPr>
  <p:txBody><a:bodyPr/><a:lstStyle/>
    <a:p><a:r><a:rPr sz="1500" color="4A5568" latin="Arial"/><a:t>中心区域精度最高</a:t></a:r></a:p>
  </p:txBody>
</p:sp>
<p:sp>
  <p:nvSpPr><p:cNvPr id="22" name=""/><p:cNvSpPr/><p:nvPr/></p:nvSpPr>
  <p:spPr><a:xfrm><a:off x="4462800" y="3400000"/><a:ext cx="3300000" cy="411480"/></a:xfrm></p:spPr>
  <p:txBody><a:bodyPr/><a:lstStyle/>
    <a:p><a:r><a:rPr sz="1500" color="4A5568" latin="Arial"/><a:t>边界可接受</a:t></a:r></a:p>
  </p:txBody>
</p:sp>
<p:sp>
  <p:nvSpPr><p:cNvPr id="22" name=""/><p:cNvSpPr/><p:nvPr/></p:nvSpPr>
  <p:spPr><a:xfrm><a:off x="8102640" y="1278720"/><a:ext cx="3650000" cy="4050000"/></a:xfrm>
    <a:prstGeom prst="roundRect"><a:avLst><a:gd name="adj" fmla="val 68580"/></a:avLst></a:prstGeom>
    <a:solidFill><a:srgbClr val="FFFFFF"/></a:solidFill>
    <a:ln w="0"/></p:spPr>
</p:sp>
<p:sp>
  <p:nvSpPr><p:cNvPr id="23" name=""/><p:cNvSpPr/><p:nvPr/></p:nvSpPr>
  <p:spPr><a:xfrm><a:off x="8102640" y="1278720"/><a:ext cx="3650000" cy="91440"/></a:xfrm>
    <a:solidFill><a:srgbClr val="DD6B20"/></a:solidFill>
    <a:ln w="0"/></p:spPr>
</p:sp>
<p:sp>
  <p:nvSpPr><p:cNvPr id="24" name=""/><p:cNvSpPr/><p:nvPr/></p:nvSpPr>
  <p:spPr><a:xfrm><a:off x="8285520" y="1461600"/><a:ext cx="3300000" cy="457200"/></a:xfrm></p:spPr>
  <p:txBody><a:bodyPr/><a:lstStyle/>
    <a:p><a:r><a:rPr sz="2200" bold="1" color="DD6B20" latin="Arial"/><a:t>沿 Z 轴变化</a:t></a:r></a:p>
  </p:txBody>
</p:sp>
<p:sp>
  <p:nvSpPr><p:cNvPr id="25" name=""/><p:cNvSpPr/><p:nvPr/></p:nvSpPr>
  <p:spPr><a:xfrm><a:off x="8285520" y="2008000"/><a:ext cx="3300000" cy="411480"/></a:xfrm></p:spPr>
  <p:txBody><a:bodyPr/><a:lstStyle/>
    <a:p><a:r><a:rPr sz="1500" color="4A5568" latin="Arial"/><a:t>X=0.5, Y=0 · Z: 0.05→0.50, 10 组</a:t></a:r></a:p>
  </p:txBody>
</p:sp>
<p:sp>
  <p:nvSpPr><p:cNvPr id="26" name=""/><p:cNvSpPr/><p:nvPr/></p:nvSpPr>
  <p:spPr><a:xfrm><a:off x="8285520" y="2654000"/><a:ext cx="3300000" cy="457200"/></a:xfrm></p:spPr>
  <p:txBody><a:bodyPr/><a:lstStyle/>
    <a:p><a:r><a:rPr sz="1600" bold="1" color="2D3644" latin="Arial"/><a:t>实验结果</a:t></a:r></a:p>
  </p:txBody>
</p:sp>
<p:sp>
  <p:nvSpPr><p:cNvPr id="27" name=""/><p:cNvSpPr/><p:nvPr/></p:nvSpPr>
  <p:spPr><a:xfrm><a:off x="8285520" y="3052000"/><a:ext cx="3300000" cy="411480"/></a:xfrm></p:spPr>
  <p:txBody><a:bodyPr/><a:lstStyle/>
    <a:p><a:r><a:rPr sz="1500" color="4A5568" latin="Arial"/><a:t>0.1<Z<0.4 稳定</a:t></a:r></a:p>
  </p:txBody>
</p:sp>
<p:sp>
  <p:nvSpPr><p:cNvPr id="28" name=""/><p:cNvSpPr/><p:nvPr/></p:nvSpPr>
  <p:spPr><a:xfrm><a:off x="8285520" y="3400000"/><a:ext cx="3300000" cy="411480"/></a:xfrm></p:spPr>
  <p:txBody><a:bodyPr/><a:lstStyle/>
    <a:p><a:r><a:rPr sz="1500" color="4A5568" latin="Arial"/><a:t>过低奇异, 过高限位</a:t></a:r></a:p>
  </p:txBody>
</p:sp>
    </p:spTree></p:cSld>
</p:sld>
</file>

<file path=ppt/slides/slide7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<p:spTree>
      <p:nvGrpSpPr><p:cNvPr id="1" name=""/><p:cNvGrpSpPr/><p:nvPr/></p:nvGrpSpPr>
      <p:grpSpPr/>
<p:sp>
  <p:nvSpPr><p:cNvPr id="2" name=""/><p:cNvSpPr/><p:nvPr/></p:nvSpPr>
  <p:spPr><a:xfrm><a:off x="0" y="0"/><a:ext cx="12192000" cy="6858000"/></a:xfrm>
    <a:solidFill><a:srgbClr val="F5F7FB"/></a:solidFill>
    <a:ln w="0"/></p:spPr>
</p:sp>
<p:sp>
  <p:nvSpPr><p:cNvPr id="3" name=""/><p:cNvSpPr/><p:nvPr/></p:nvSpPr>
  <p:spPr><a:xfrm><a:off x="0" y="0"/><a:ext cx="12192000" cy="91440"/></a:xfrm>
    <a:solidFill><a:srgbClr val="2B579A"/></a:solidFill>
    <a:ln w="0"/></p:spPr>
</p:sp>
<p:sp>
  <p:nvSpPr><p:cNvPr id="4" name=""/><p:cNvSpPr/><p:nvPr/></p:nvSpPr>
  <p:spPr><a:xfrm><a:off x="457200" y="274320"/><a:ext cx="11000000" cy="731520"/></a:xfrm></p:spPr>
  <p:txBody><a:bodyPr/><a:lstStyle/>
    <a:p><a:r><a:rPr sz="3000" bold="1" color="1A3356" latin="Arial"/><a:t>六、“教机器人” vs “自己做”</a:t></a:r></a:p>
  </p:txBody>
</p:sp>
<p:sp>
  <p:nvSpPr><p:cNvPr id="10" name=""/><p:cNvSpPr/><p:nvPr/></p:nvSpPr>
  <p:spPr><a:xfrm><a:off x="457200" y="1278720"/><a:ext cx="5486400" cy="4850000"/></a:xfrm>
    <a:prstGeom prst="roundRect"><a:avLst><a:gd name="adj" fmla="val 68580"/></a:avLst></a:prstGeom>
    <a:solidFill><a:srgbClr val="FFFFFF"/></a:solidFill>
    <a:ln w="0"/></p:spPr>
</p:sp>
<p:sp>
  <p:nvSpPr><p:cNvPr id="11" name=""/><p:cNvSpPr/><p:nvPr/></p:nvSpPr>
  <p:spPr><a:xfrm><a:off x="457200" y="1278720"/><a:ext cx="5486400" cy="91440"/></a:xfrm>
    <a:solidFill><a:srgbClr val="38A169"/></a:solidFill>
    <a:ln w="0"/></p:spPr>
</p:sp>
<p:sp>
  <p:nvSpPr><p:cNvPr id="12" name=""/><p:cNvSpPr/><p:nvPr/></p:nvSpPr>
  <p:spPr><a:xfrm><a:off x="640080" y="1461600"/><a:ext cx="5000000" cy="600000"/></a:xfrm></p:spPr>
  <p:txBody><a:bodyPr/><a:lstStyle/>
    <a:p><a:r><a:rPr sz="2800" bold="1" color="38A169" latin="Arial"/><a:t>👤  人自己做</a:t></a:r></a:p>
  </p:txBody>
</p:sp>
<p:sp>
  <p:nvSpPr><p:cNvPr id="13" name=""/><p:cNvSpPr/><p:nvPr/></p:nvSpPr>
  <p:spPr><a:xfrm><a:off x="640080" y="2200000"/><a:ext cx="5000000" cy="3500000"/></a:xfrm></p:spPr>
  <p:txBody><a:bodyPr/><a:lstStyle/>
    <a:p><a:r><a:rPr sz="1800" color="2D3644" latin="Arial"/><a:t>✓ 本能计算：大脑自动完成</a:t></a:r></a:p><a:p><a:r><a:rPr sz="1800" color="2D3644" latin="Arial"/><a:t>✓ 无需精确三维坐标</a:t></a:r></a:p><a:p><a:r><a:rPr sz="1800" color="2D3644" latin="Arial"/><a:t>✓ 视觉-运动自动闭环</a:t></a:r></a:p><a:p><a:r><a:rPr sz="1800" color="2D3644" latin="Arial"/><a:t>✓ 触觉力实时反馈</a:t></a:r></a:p><a:p><a:r><a:rPr sz="1800" color="2D3644" latin="Arial"/><a:t>✓ 强适应性，无奇异点问题</a:t></a:r></a:p><a:p><a:r><a:rPr sz="1000" color="2D3644" latin="Arial"/><a:t></a:t></a:r></a:p><a:p><a:r><a:rPr sz="1800" bold="1" color="38A169" latin="Arial"/><a:t>⏱ 耗时 < 0.5 秒</a:t></a:r></a:p>
  </p:txBody>
</p:sp>
<p:sp>
  <p:nvSpPr><p:cNvPr id="20" name=""/><p:cNvSpPr/><p:nvPr/></p:nvSpPr>
  <p:spPr><a:xfrm><a:off x="6216400" y="1278720"/><a:ext cx="5518400" cy="4850000"/></a:xfrm>
    <a:prstGeom prst="roundRect"><a:avLst><a:gd name="adj" fmla="val 68580"/></a:avLst></a:prstGeom>
    <a:solidFill><a:srgbClr val="FFFFFF"/></a:solidFill>
    <a:ln w="0"/></p:spPr>
</p:sp>
<p:sp>
  <p:nvSpPr><p:cNvPr id="21" name=""/><p:cNvSpPr/><p:nvPr/></p:nvSpPr>
  <p:spPr><a:xfrm><a:off x="6216400" y="1278720"/><a:ext cx="5518400" cy="91440"/></a:xfrm>
    <a:solidFill><a:srgbClr val="E53E3E"/></a:solidFill>
    <a:ln w="0"/></p:spPr>
</p:sp>
<p:sp>
  <p:nvSpPr><p:cNvPr id="22" name=""/><p:cNvSpPr/><p:nvPr/></p:nvSpPr>
  <p:spPr><a:xfrm><a:off x="6399280" y="1461600"/><a:ext cx="5000000" cy="600000"/></a:xfrm></p:spPr>
  <p:txBody><a:bodyPr/><a:lstStyle/>
    <a:p><a:r><a:rPr sz="2800" bold="1" color="E53E3E" latin="Arial"/><a:t>🤖  教机器人做</a:t></a:r></a:p>
  </p:txBody>
</p:sp>
<p:sp>
  <p:nvSpPr><p:cNvPr id="23" name=""/><p:cNvSpPr/><p:nvPr/></p:nvSpPr>
  <p:spPr><a:xfrm><a:off x="6399280" y="2200000"/><a:ext cx="5000000" cy="3500000"/></a:xfrm></p:spPr>
  <p:txBody><a:bodyPr/><a:lstStyle/>
    <a:p><a:r><a:rPr sz="1800" color="2D3644" latin="Arial"/><a:t>✗ 需精确三维坐标（厘米级）</a:t></a:r></a:p><a:p><a:r><a:rPr sz="1800" color="2D3644" latin="Arial"/><a:t>✗ 需逆运动学迭代求解</a:t></a:r></a:p><a:p><a:r><a:rPr sz="1800" color="2D3644" latin="Arial"/><a:t>✗ 7 个关节需协同同步控制</a:t></a:r></a:p><a:p><a:r><a:rPr sz="1800" color="2D3644" latin="Arial"/><a:t>✗ 无力觉/触觉反馈机制</a:t></a:r></a:p><a:p><a:r><a:rPr sz="1800" color="2D3644" latin="Arial"/><a:t>✗ 需处理奇异点和关节限位</a:t></a:r></a:p><a:p><a:r><a:rPr sz="1000" color="2D3644" latin="Arial"/><a:t></a:t></a:r></a:p><a:p><a:r><a:rPr sz="1800" bold="1" color="E53E3E" latin="Arial"/><a:t>⏱ 耗时：数秒到数分钟</a:t></a:r></a:p>
  </p:txBody>
</p:sp>
    </p:spTree></p:cSld>
</p:sld>
</file>

<file path=ppt/slides/slide8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<p:spTree>
      <p:nvGrpSpPr><p:cNvPr id="1" name=""/><p:cNvGrpSpPr/><p:nvPr/></p:nvGrpSpPr>
      <p:grpSpPr/>
<p:sp>
  <p:nvSpPr><p:cNvPr id="2" name=""/><p:cNvSpPr/><p:nvPr/></p:nvSpPr>
  <p:spPr><a:xfrm><a:off x="0" y="0"/><a:ext cx="12192000" cy="6858000"/></a:xfrm>
    <a:solidFill><a:srgbClr val="1A3356"/></a:solidFill>
    <a:ln w="0"/></p:spPr>
</p:sp>
<p:sp>
  <p:nvSpPr><p:cNvPr id="3" name=""/><p:cNvSpPr/><p:nvPr/></p:nvSpPr>
  <p:spPr><a:xfrm><a:off x="0" y="0"/><a:ext cx="182880" cy="6858000"/></a:xfrm>
    <a:solidFill><a:srgbClr val="2B579A"/></a:solidFill>
    <a:ln w="0"/></p:spPr>
</p:sp>
<p:sp>
  <p:nvSpPr><p:cNvPr id="4" name=""/><p:cNvSpPr/><p:nvPr/></p:nvSpPr>
  <p:spPr><a:xfrm><a:off x="457200" y="914400"/><a:ext cx="11000000" cy="731520"/></a:xfrm></p:spPr>
  <p:txBody><a:bodyPr/><a:lstStyle/>
    <a:p><a:r><a:rPr sz="3200" bold="1" color="FFFFFF" latin="Arial"/><a:t>七、总结与展望</a:t></a:r></a:p>
  </p:txBody>
</p:sp>
<p:sp>
  <p:nvSpPr><p:cNvPr id="10" name=""/><p:cNvSpPr/><p:nvPr/></p:nvSpPr>
  <p:spPr><a:xfrm><a:off x="457200" y="1913520"/><a:ext cx="5029200" cy="3383280"/></a:xfrm>
    <a:prstGeom prst="roundRect"><a:avLst><a:gd name="adj" fmla="val 68580"/></a:avLst></a:prstGeom>
    <a:solidFill><a:srgbClr val="1A3356"/></a:solidFill>
    <a:ln w="0"/></p:spPr>
</p:sp>
<p:sp>
  <p:nvSpPr><p:cNvPr id="11" name=""/><p:cNvSpPr/><p:nvPr/></p:nvSpPr>
  <p:spPr><a:xfrm><a:off x="640080" y="2096400"/><a:ext cx="4600000" cy="600000"/></a:xfrm></p:spPr>
  <p:txBody><a:bodyPr/><a:lstStyle/>
    <a:p><a:r><a:rPr sz="2400" bold="1" color="D69E2E" latin="Arial"/><a:t>📌 已完成成果</a:t></a:r></a:p>
  </p:txBody>
</p:sp>
<p:sp>
  <p:nvSpPr><p:cNvPr id="12" name=""/><p:cNvSpPr/><p:nvPr/></p:nvSpPr>
  <p:spPr><a:xfrm><a:off x="640080" y="2900000"/><a:ext cx="4600000" cy="2200000"/></a:xfrm></p:spPr>
  <p:txBody><a:bodyPr/><a:lstStyle/>
    <a:p><a:r><a:rPr sz="1700" color="FFFFFF" latin="Arial"/><a:t>✅ PyBullet 仿真环境搭建与机械臂控制</a:t></a:r></a:p><a:p><a:r><a:rPr sz="1700" color="FFFFFF" latin="Arial"/><a:t>✅ 逆运动学定位（5组测试，误差<0.3mm）</a:t></a:r></a:p><a:p><a:r><a:rPr sz="1700" color="FFFFFF" latin="Arial"/><a:t>✅ 抓取-移动-释放 完整流水线（4阶段）</a:t></a:r></a:p><a:p><a:r><a:rPr sz="1700" color="FFFFFF" latin="Arial"/><a:t>✅ 多参数对比实验（3组×26个测试点）</a:t></a:r></a:p>
  </p:txBody>
</p:sp>
<p:sp>
  <p:nvSpPr><p:cNvPr id="20" name=""/><p:cNvSpPr/><p:nvPr/></p:nvSpPr>
  <p:spPr><a:xfrm><a:off x="5666400" y="1913520"/><a:ext cx="5974400" cy="3383280"/></a:xfrm>
    <a:prstGeom prst="roundRect"><a:avLst><a:gd name="adj" fmla="val 68580"/></a:avLst></a:prstGeom>
    <a:solidFill><a:srgbClr val="1A3356"/></a:solidFill>
    <a:ln w="0"/></p:spPr>
</p:sp>
<p:sp>
  <p:nvSpPr><p:cNvPr id="21" name=""/><p:cNvSpPr/><p:nvPr/></p:nvSpPr>
  <p:spPr><a:xfrm><a:off x="5849280" y="2096400"/><a:ext cx="5600000" cy="600000"/></a:xfrm></p:spPr>
  <p:txBody><a:bodyPr/><a:lstStyle/>
    <a:p><a:r><a:rPr sz="2400" bold="1" color="D69E2E" latin="Arial"/><a:t>🚀 改进方向</a:t></a:r></a:p>
  </p:txBody>
</p:sp>
<p:sp>
  <p:nvSpPr><p:cNvPr id="22" name=""/><p:cNvSpPr/><p:nvPr/></p:nvSpPr>
  <p:spPr><a:xfrm><a:off x="5849280" y="2900000"/><a:ext cx="5600000" cy="2200000"/></a:xfrm></p:spPr>
  <p:txBody><a:bodyPr/><a:lstStyle/>
    <a:p><a:r><a:rPr sz="1700" color="FFFFFF" latin="Arial"/><a:t>① 集成视觉模块实现自适应抓取</a:t></a:r></a:p><a:p><a:r><a:rPr sz="1700" color="FFFFFF" latin="Arial"/><a:t>② 引入深度强化学习训练最优策略</a:t></a:r></a:p><a:p><a:r><a:rPr sz="1700" color="FFFFFF" latin="Arial"/><a:t>③ 打通 Sim-to-Real 部署到真实机械臂</a:t></a:r></a:p><a:p><a:r><a:rPr sz="1700" color="FFFFFF" latin="Arial"/><a:t>④ 实现避障路径规划（RRT / A* 算法）</a:t></a:r></a:p>
  </p:txBody>
</p:sp>
<p:sp>
  <p:nvSpPr><p:cNvPr id="30" name=""/><p:cNvSpPr/><p:nvPr/></p:nvSpPr>
  <p:spPr><a:xfrm><a:off x="457200" y="5571600"/><a:ext cx="10972800" cy="2"/></a:xfrm>
    <a:solidFill><a:srgbClr val="96BEFF"/></a:solidFill>
    <a:ln w="0"/></p:spPr>
</p:sp>
<p:sp>
  <p:nvSpPr><p:cNvPr id="31" name=""/><p:cNvSpPr/><p:nvPr/></p:nvSpPr>
  <p:spPr><a:xfrm><a:off x="457200" y="5750000"/><a:ext cx="11000000" cy="800000"/></a:xfrm></p:spPr>
  <p:txBody><a:bodyPr/><a:lstStyle/>
    <a:p><a:r><a:rPr sz="1800" color="96BEFF" latin="Arial"/><a:t>💡 核心感悟：教机器人做一个简单动作，比自己做难100倍——这正是具身智能的魅力。</a:t></a:r></a:p>
  </p:txBody>
</p:sp>
    </p:spTree></p:cSld>
</p:sld>
</file>

<file path=ppt/theme/theme1.xml><?xml version="1.0" encoding="utf-8"?>
<a:theme xmlns:a="http://schemas.openxmlformats.org/drawingml/2006/main" name="Modern">
  <a:themeElements>
    <a:clrScheme name="Modern">
      <a:dk1>
        <a:srgbClr val="1A3356"/>
      </a:dk1>
      <a:lt1>
        <a:srgbClr val="FFFFFF"/>
      </a:lt1>
      <a:dk2>
        <a:srgbClr val="2D3644"/>
      </a:dk2>
      <a:lt2>
        <a:srgbClr val="F5F7FB"/>
      </a:lt2>
      <a:accent1>
        <a:srgbClr val="2B579A"/>
      </a:accent1>
      <a:accent2>
        <a:srgbClr val="4472C4"/>
      </a:accent2>
      <a:accent3>
        <a:srgbClr val="38A169"/>
      </a:accent3>
      <a:accent4>
        <a:srgbClr val="DD6B20"/>
      </a:accent4>
      <a:accent5>
        <a:srgbClr val="E53E3E"/>
      </a:accent5>
      <a:accent6>
        <a:srgbClr val="D69E2E"/>
      </a:accent6>
      <a:hlink>
        <a:srgbClr val="2B579A"/>
      </a:hlink>
      <a:folHlink>
        <a:srgbClr val="1A3356"/>
      </a:folHlink>
    </a:clrScheme>
    <a:fontScheme name="Moder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odern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/>
      <a:bgFillStyleLst>
        <a:solidFill>
          <a:schemeClr val="phClr"/>
        </a:solidFill>
      </a:bgFillStyleLst>
    </a:fmtScheme>
  </a:themeElements>
</a:theme>
</file>